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?>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?>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4.xml"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6.xml"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0.xml"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0" y="-1371600"/>
            <a:ext cx="5029200" cy="5029200"/>
          </a:xfrm>
          <a:prstGeom prst="ellipse">
            <a:avLst/>
          </a:prstGeom>
          <a:solidFill>
            <a:srgbClr val="1A3A6B">
              <a:alpha val="45000"/>
            </a:srgbClr>
          </a:solidFill>
          <a:ln w="12700">
            <a:solidFill>
              <a:srgbClr val="1A3A6B">
                <a:alpha val="45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858000" y="2286000"/>
            <a:ext cx="3200400" cy="3200400"/>
          </a:xfrm>
          <a:prstGeom prst="ellipse">
            <a:avLst/>
          </a:prstGeom>
          <a:solidFill>
            <a:srgbClr val="2196F3">
              <a:alpha val="25000"/>
            </a:srgbClr>
          </a:solidFill>
          <a:ln w="12700">
            <a:solidFill>
              <a:srgbClr val="2196F3">
                <a:alpha val="25000"/>
              </a:srgbClr>
            </a:solidFill>
            <a:prstDash val="solid"/>
          </a:ln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32320" y="640080"/>
            <a:ext cx="1463040" cy="146304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02920" y="502920"/>
            <a:ext cx="2560320" cy="347472"/>
          </a:xfrm>
          <a:prstGeom prst="roundRect">
            <a:avLst>
              <a:gd name="adj" fmla="val 21053"/>
            </a:avLst>
          </a:prstGeom>
          <a:solidFill>
            <a:srgbClr val="2196F3">
              <a:alpha val="80000"/>
            </a:srgbClr>
          </a:solidFill>
          <a:ln w="12700">
            <a:solidFill>
              <a:srgbClr val="2196F3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502920" y="502920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EXPLORAÇÃO DIGITAL — 2026.1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457200" y="1005840"/>
            <a:ext cx="640080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Agentes de IA</a:t>
            </a:r>
            <a:endParaRPr lang="en-US" sz="5200" dirty="0"/>
          </a:p>
          <a:p>
            <a:pPr algn="l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Autônomos</a:t>
            </a:r>
            <a:endParaRPr lang="en-US" sz="5200" dirty="0"/>
          </a:p>
        </p:txBody>
      </p:sp>
      <p:sp>
        <p:nvSpPr>
          <p:cNvPr id="8" name="Text 5"/>
          <p:cNvSpPr/>
          <p:nvPr/>
        </p:nvSpPr>
        <p:spPr>
          <a:xfrm>
            <a:off x="457200" y="2926080"/>
            <a:ext cx="5943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i="1" dirty="0">
                <a:solidFill>
                  <a:srgbClr val="C9DC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Pesquisa e Análise de Casos de Uso</a:t>
            </a:r>
            <a:endParaRPr lang="en-US" sz="1800" dirty="0"/>
          </a:p>
        </p:txBody>
      </p:sp>
      <p:sp>
        <p:nvSpPr>
          <p:cNvPr id="9" name="Shape 6"/>
          <p:cNvSpPr/>
          <p:nvPr/>
        </p:nvSpPr>
        <p:spPr>
          <a:xfrm>
            <a:off x="457200" y="3493008"/>
            <a:ext cx="2743200" cy="45720"/>
          </a:xfrm>
          <a:prstGeom prst="rect">
            <a:avLst/>
          </a:prstGeom>
          <a:solidFill>
            <a:srgbClr val="2196F3"/>
          </a:solidFill>
          <a:ln w="12700">
            <a:solidFill>
              <a:srgbClr val="2196F3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457200" y="365760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C9DC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UNIFACS — Universidade Salvador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457200" y="397764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Disciplina: Exploração Digital e Fundamentos Tecnológicos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411480" y="1097280"/>
            <a:ext cx="402336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8F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411480" y="1097280"/>
            <a:ext cx="502920" cy="1005840"/>
          </a:xfrm>
          <a:prstGeom prst="rect">
            <a:avLst/>
          </a:prstGeom>
          <a:solidFill>
            <a:srgbClr val="2196F3"/>
          </a:solidFill>
          <a:ln w="12700">
            <a:solidFill>
              <a:srgbClr val="2196F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11480" y="1097280"/>
            <a:ext cx="502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01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005840" y="1188720"/>
            <a:ext cx="3337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são Agentes de IA?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005840" y="1572768"/>
            <a:ext cx="3337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Conceito, funcionamento e tipos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663440" y="1097280"/>
            <a:ext cx="402336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8F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663440" y="1097280"/>
            <a:ext cx="502920" cy="1005840"/>
          </a:xfrm>
          <a:prstGeom prst="rect">
            <a:avLst/>
          </a:prstGeom>
          <a:solidFill>
            <a:srgbClr val="2196F3"/>
          </a:solidFill>
          <a:ln w="12700">
            <a:solidFill>
              <a:srgbClr val="2196F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663440" y="1097280"/>
            <a:ext cx="502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02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5257800" y="1188720"/>
            <a:ext cx="3337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Fundamentação Teórica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257800" y="1572768"/>
            <a:ext cx="3337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IA, agentes inteligentes e autonomia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11480" y="2286000"/>
            <a:ext cx="402336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8F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11480" y="2286000"/>
            <a:ext cx="502920" cy="1005840"/>
          </a:xfrm>
          <a:prstGeom prst="rect">
            <a:avLst/>
          </a:prstGeom>
          <a:solidFill>
            <a:srgbClr val="2196F3"/>
          </a:solidFill>
          <a:ln w="12700">
            <a:solidFill>
              <a:srgbClr val="2196F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11480" y="2286000"/>
            <a:ext cx="502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03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005840" y="2377440"/>
            <a:ext cx="3337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Casos Reais de Uso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1005840" y="2761488"/>
            <a:ext cx="3337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Klarna, Receita Federal, Oracle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663440" y="2286000"/>
            <a:ext cx="402336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8F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663440" y="2286000"/>
            <a:ext cx="502920" cy="1005840"/>
          </a:xfrm>
          <a:prstGeom prst="rect">
            <a:avLst/>
          </a:prstGeom>
          <a:solidFill>
            <a:srgbClr val="2196F3"/>
          </a:solidFill>
          <a:ln w="12700">
            <a:solidFill>
              <a:srgbClr val="2196F3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663440" y="2286000"/>
            <a:ext cx="502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04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5257800" y="2377440"/>
            <a:ext cx="3337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Análise dos Impactos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5257800" y="2761488"/>
            <a:ext cx="3337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Benefícios e desafios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411480" y="3474720"/>
            <a:ext cx="402336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8F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411480" y="3474720"/>
            <a:ext cx="502920" cy="1005840"/>
          </a:xfrm>
          <a:prstGeom prst="rect">
            <a:avLst/>
          </a:prstGeom>
          <a:solidFill>
            <a:srgbClr val="2196F3"/>
          </a:solidFill>
          <a:ln w="12700">
            <a:solidFill>
              <a:srgbClr val="2196F3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11480" y="3474720"/>
            <a:ext cx="502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05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1005840" y="3566160"/>
            <a:ext cx="3337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Protótipo Desenvolvido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1005840" y="3950208"/>
            <a:ext cx="3337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Agente de atendimento com n8n + Gemini + Telegram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4663440" y="3474720"/>
            <a:ext cx="402336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8F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4663440" y="3474720"/>
            <a:ext cx="502920" cy="1005840"/>
          </a:xfrm>
          <a:prstGeom prst="rect">
            <a:avLst/>
          </a:prstGeom>
          <a:solidFill>
            <a:srgbClr val="2196F3"/>
          </a:solidFill>
          <a:ln w="12700">
            <a:solidFill>
              <a:srgbClr val="2196F3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663440" y="3474720"/>
            <a:ext cx="502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06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5257800" y="3566160"/>
            <a:ext cx="3337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Conclusão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5257800" y="3950208"/>
            <a:ext cx="3337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Aprendizados e perspectivas futuras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228600"/>
            <a:ext cx="8503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são Agentes de IA?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320040" y="868680"/>
            <a:ext cx="8503920" cy="960120"/>
          </a:xfrm>
          <a:prstGeom prst="rect">
            <a:avLst/>
          </a:prstGeom>
          <a:solidFill>
            <a:srgbClr val="E8EFF9"/>
          </a:solidFill>
          <a:ln w="12700">
            <a:solidFill>
              <a:srgbClr val="C9DCF7"/>
            </a:solidFill>
            <a:prstDash val="solid"/>
          </a:ln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914400"/>
            <a:ext cx="685800" cy="6858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280160" y="886968"/>
            <a:ext cx="74066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 agente de IA é um sistema que realiza tarefas de forma autônoma por meio da criação de fluxos de trabalho com ferramentas disponíveis, usando grandes modelos de linguagem (LLMs) para compreender e agir no ambiente.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320040" y="1965960"/>
            <a:ext cx="2743200" cy="384048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20040" y="1965960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IA Tradicional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320040" y="2350008"/>
            <a:ext cx="2743200" cy="594360"/>
          </a:xfrm>
          <a:prstGeom prst="rect">
            <a:avLst/>
          </a:prstGeom>
          <a:solidFill>
            <a:srgbClr val="F4F7FC"/>
          </a:solidFill>
          <a:ln w="12700">
            <a:solidFill>
              <a:srgbClr val="E0E8F5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411480" y="2350008"/>
            <a:ext cx="2560320" cy="5943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Regras pré-codificadas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320040" y="2990088"/>
            <a:ext cx="2743200" cy="594360"/>
          </a:xfrm>
          <a:prstGeom prst="rect">
            <a:avLst/>
          </a:prstGeom>
          <a:solidFill>
            <a:srgbClr val="F4F7FC"/>
          </a:solidFill>
          <a:ln w="12700">
            <a:solidFill>
              <a:srgbClr val="E0E8F5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11480" y="2990088"/>
            <a:ext cx="2560320" cy="5943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Sem memória persistente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320040" y="3630168"/>
            <a:ext cx="2743200" cy="594360"/>
          </a:xfrm>
          <a:prstGeom prst="rect">
            <a:avLst/>
          </a:prstGeom>
          <a:solidFill>
            <a:srgbClr val="F4F7FC"/>
          </a:solidFill>
          <a:ln w="12700">
            <a:solidFill>
              <a:srgbClr val="E0E8F5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411480" y="3630168"/>
            <a:ext cx="2560320" cy="5943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Respostas fixas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320040" y="4270248"/>
            <a:ext cx="2743200" cy="594360"/>
          </a:xfrm>
          <a:prstGeom prst="rect">
            <a:avLst/>
          </a:prstGeom>
          <a:solidFill>
            <a:srgbClr val="F4F7FC"/>
          </a:solidFill>
          <a:ln w="12700">
            <a:solidFill>
              <a:srgbClr val="E0E8F5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411480" y="4270248"/>
            <a:ext cx="2560320" cy="5943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Não aprende sozinha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3200400" y="1965960"/>
            <a:ext cx="2743200" cy="384048"/>
          </a:xfrm>
          <a:prstGeom prst="rect">
            <a:avLst/>
          </a:prstGeom>
          <a:solidFill>
            <a:srgbClr val="2196F3"/>
          </a:solidFill>
          <a:ln w="12700">
            <a:solidFill>
              <a:srgbClr val="2196F3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3200400" y="1965960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Agente Autônomo</a:t>
            </a:r>
            <a:endParaRPr lang="en-US" sz="1300" dirty="0"/>
          </a:p>
        </p:txBody>
      </p:sp>
      <p:sp>
        <p:nvSpPr>
          <p:cNvPr id="19" name="Shape 16"/>
          <p:cNvSpPr/>
          <p:nvPr/>
        </p:nvSpPr>
        <p:spPr>
          <a:xfrm>
            <a:off x="3200400" y="2350008"/>
            <a:ext cx="2743200" cy="594360"/>
          </a:xfrm>
          <a:prstGeom prst="rect">
            <a:avLst/>
          </a:prstGeom>
          <a:solidFill>
            <a:srgbClr val="EBF5FF"/>
          </a:solidFill>
          <a:ln w="12700">
            <a:solidFill>
              <a:srgbClr val="E0E8F5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3291840" y="2350008"/>
            <a:ext cx="2560320" cy="5943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3A6B"/>
                </a:solidFill>
              </a:rPr>
              <a:t>Planeja e executa ações</a:t>
            </a:r>
            <a:endParaRPr lang="en-US" sz="1100" dirty="0"/>
          </a:p>
        </p:txBody>
      </p:sp>
      <p:sp>
        <p:nvSpPr>
          <p:cNvPr id="21" name="Shape 18"/>
          <p:cNvSpPr/>
          <p:nvPr/>
        </p:nvSpPr>
        <p:spPr>
          <a:xfrm>
            <a:off x="3200400" y="2990088"/>
            <a:ext cx="2743200" cy="594360"/>
          </a:xfrm>
          <a:prstGeom prst="rect">
            <a:avLst/>
          </a:prstGeom>
          <a:solidFill>
            <a:srgbClr val="EBF5FF"/>
          </a:solidFill>
          <a:ln w="12700">
            <a:solidFill>
              <a:srgbClr val="E0E8F5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3291840" y="2990088"/>
            <a:ext cx="2560320" cy="5943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3A6B"/>
                </a:solidFill>
              </a:rPr>
              <a:t>Memória e aprendizado</a:t>
            </a:r>
            <a:endParaRPr lang="en-US" sz="1100" dirty="0"/>
          </a:p>
        </p:txBody>
      </p:sp>
      <p:sp>
        <p:nvSpPr>
          <p:cNvPr id="23" name="Shape 20"/>
          <p:cNvSpPr/>
          <p:nvPr/>
        </p:nvSpPr>
        <p:spPr>
          <a:xfrm>
            <a:off x="3200400" y="3630168"/>
            <a:ext cx="2743200" cy="594360"/>
          </a:xfrm>
          <a:prstGeom prst="rect">
            <a:avLst/>
          </a:prstGeom>
          <a:solidFill>
            <a:srgbClr val="EBF5FF"/>
          </a:solidFill>
          <a:ln w="12700">
            <a:solidFill>
              <a:srgbClr val="E0E8F5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3291840" y="3630168"/>
            <a:ext cx="2560320" cy="5943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3A6B"/>
                </a:solidFill>
              </a:rPr>
              <a:t>Usa ferramentas externas</a:t>
            </a:r>
            <a:endParaRPr lang="en-US" sz="1100" dirty="0"/>
          </a:p>
        </p:txBody>
      </p:sp>
      <p:sp>
        <p:nvSpPr>
          <p:cNvPr id="25" name="Shape 22"/>
          <p:cNvSpPr/>
          <p:nvPr/>
        </p:nvSpPr>
        <p:spPr>
          <a:xfrm>
            <a:off x="3200400" y="4270248"/>
            <a:ext cx="2743200" cy="594360"/>
          </a:xfrm>
          <a:prstGeom prst="rect">
            <a:avLst/>
          </a:prstGeom>
          <a:solidFill>
            <a:srgbClr val="EBF5FF"/>
          </a:solidFill>
          <a:ln w="12700">
            <a:solidFill>
              <a:srgbClr val="E0E8F5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3291840" y="4270248"/>
            <a:ext cx="2560320" cy="5943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3A6B"/>
                </a:solidFill>
              </a:rPr>
              <a:t>Adapta-se ao usuário</a:t>
            </a:r>
            <a:endParaRPr lang="en-US" sz="1100" dirty="0"/>
          </a:p>
        </p:txBody>
      </p:sp>
      <p:sp>
        <p:nvSpPr>
          <p:cNvPr id="27" name="Shape 24"/>
          <p:cNvSpPr/>
          <p:nvPr/>
        </p:nvSpPr>
        <p:spPr>
          <a:xfrm>
            <a:off x="6080760" y="1965960"/>
            <a:ext cx="2743200" cy="384048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6080760" y="1965960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Frameworks Multi-Agent</a:t>
            </a:r>
            <a:endParaRPr lang="en-US" sz="1300" dirty="0"/>
          </a:p>
        </p:txBody>
      </p:sp>
      <p:sp>
        <p:nvSpPr>
          <p:cNvPr id="29" name="Shape 26"/>
          <p:cNvSpPr/>
          <p:nvPr/>
        </p:nvSpPr>
        <p:spPr>
          <a:xfrm>
            <a:off x="6080760" y="2350008"/>
            <a:ext cx="2743200" cy="594360"/>
          </a:xfrm>
          <a:prstGeom prst="rect">
            <a:avLst/>
          </a:prstGeom>
          <a:solidFill>
            <a:srgbClr val="F4F7FC"/>
          </a:solidFill>
          <a:ln w="12700">
            <a:solidFill>
              <a:srgbClr val="E0E8F5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6172200" y="2350008"/>
            <a:ext cx="2560320" cy="5943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Vários agentes cooperando</a:t>
            </a:r>
            <a:endParaRPr lang="en-US" sz="1100" dirty="0"/>
          </a:p>
        </p:txBody>
      </p:sp>
      <p:sp>
        <p:nvSpPr>
          <p:cNvPr id="31" name="Shape 28"/>
          <p:cNvSpPr/>
          <p:nvPr/>
        </p:nvSpPr>
        <p:spPr>
          <a:xfrm>
            <a:off x="6080760" y="2990088"/>
            <a:ext cx="2743200" cy="594360"/>
          </a:xfrm>
          <a:prstGeom prst="rect">
            <a:avLst/>
          </a:prstGeom>
          <a:solidFill>
            <a:srgbClr val="F4F7FC"/>
          </a:solidFill>
          <a:ln w="12700">
            <a:solidFill>
              <a:srgbClr val="E0E8F5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6172200" y="2990088"/>
            <a:ext cx="2560320" cy="5943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Especialistas por domínio</a:t>
            </a:r>
            <a:endParaRPr lang="en-US" sz="1100" dirty="0"/>
          </a:p>
        </p:txBody>
      </p:sp>
      <p:sp>
        <p:nvSpPr>
          <p:cNvPr id="33" name="Shape 30"/>
          <p:cNvSpPr/>
          <p:nvPr/>
        </p:nvSpPr>
        <p:spPr>
          <a:xfrm>
            <a:off x="6080760" y="3630168"/>
            <a:ext cx="2743200" cy="594360"/>
          </a:xfrm>
          <a:prstGeom prst="rect">
            <a:avLst/>
          </a:prstGeom>
          <a:solidFill>
            <a:srgbClr val="F4F7FC"/>
          </a:solidFill>
          <a:ln w="12700">
            <a:solidFill>
              <a:srgbClr val="E0E8F5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6172200" y="3630168"/>
            <a:ext cx="2560320" cy="5943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Raciocínio distribuído</a:t>
            </a:r>
            <a:endParaRPr lang="en-US" sz="1100" dirty="0"/>
          </a:p>
        </p:txBody>
      </p:sp>
      <p:sp>
        <p:nvSpPr>
          <p:cNvPr id="35" name="Shape 32"/>
          <p:cNvSpPr/>
          <p:nvPr/>
        </p:nvSpPr>
        <p:spPr>
          <a:xfrm>
            <a:off x="6080760" y="4270248"/>
            <a:ext cx="2743200" cy="594360"/>
          </a:xfrm>
          <a:prstGeom prst="rect">
            <a:avLst/>
          </a:prstGeom>
          <a:solidFill>
            <a:srgbClr val="F4F7FC"/>
          </a:solidFill>
          <a:ln w="12700">
            <a:solidFill>
              <a:srgbClr val="E0E8F5"/>
            </a:solidFill>
            <a:prstDash val="solid"/>
          </a:ln>
        </p:spPr>
      </p:sp>
      <p:sp>
        <p:nvSpPr>
          <p:cNvPr id="36" name="Text 33"/>
          <p:cNvSpPr/>
          <p:nvPr/>
        </p:nvSpPr>
        <p:spPr>
          <a:xfrm>
            <a:off x="6172200" y="4270248"/>
            <a:ext cx="2560320" cy="5943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Resultados superiores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1B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Como Funciona um Agente de IA?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2651760" cy="3566160"/>
          </a:xfrm>
          <a:prstGeom prst="rect">
            <a:avLst/>
          </a:prstGeom>
          <a:solidFill>
            <a:srgbClr val="1A3A6B">
              <a:alpha val="70000"/>
            </a:srgbClr>
          </a:solidFill>
          <a:ln w="12700">
            <a:solidFill>
              <a:srgbClr val="2196F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914400"/>
            <a:ext cx="26517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2196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40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63040" y="1645920"/>
            <a:ext cx="640080" cy="64008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48640" y="2377440"/>
            <a:ext cx="24688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Inicialização e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Planejamento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594360" y="3090672"/>
            <a:ext cx="2377440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9DC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Recebe metas e regras. Decompõe o objetivo em subtarefas e elabora um plano de ação.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3127248" y="2560320"/>
            <a:ext cx="164592" cy="45720"/>
          </a:xfrm>
          <a:prstGeom prst="rect">
            <a:avLst/>
          </a:prstGeom>
          <a:solidFill>
            <a:srgbClr val="2196F3"/>
          </a:solidFill>
          <a:ln w="12700">
            <a:solidFill>
              <a:srgbClr val="2196F3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3291840" y="914400"/>
            <a:ext cx="2651760" cy="3566160"/>
          </a:xfrm>
          <a:prstGeom prst="rect">
            <a:avLst/>
          </a:prstGeom>
          <a:solidFill>
            <a:srgbClr val="1A3A6B">
              <a:alpha val="70000"/>
            </a:srgbClr>
          </a:solidFill>
          <a:ln w="12700">
            <a:solidFill>
              <a:srgbClr val="2196F3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3291840" y="914400"/>
            <a:ext cx="26517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2196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4000" dirty="0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97680" y="1645920"/>
            <a:ext cx="640080" cy="64008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3383280" y="2377440"/>
            <a:ext cx="24688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Raciocínio com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Ferramentas</a:t>
            </a:r>
            <a:endParaRPr lang="en-US" sz="1400" dirty="0"/>
          </a:p>
        </p:txBody>
      </p:sp>
      <p:sp>
        <p:nvSpPr>
          <p:cNvPr id="13" name="Text 9"/>
          <p:cNvSpPr/>
          <p:nvPr/>
        </p:nvSpPr>
        <p:spPr>
          <a:xfrm>
            <a:off x="3429000" y="3090672"/>
            <a:ext cx="2377440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9DC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Busca informações externas (APIs, bancos de dados, outros agentes) para suprir lacunas de conhecimento.</a:t>
            </a:r>
            <a:endParaRPr lang="en-US" sz="1100" dirty="0"/>
          </a:p>
        </p:txBody>
      </p:sp>
      <p:sp>
        <p:nvSpPr>
          <p:cNvPr id="14" name="Shape 10"/>
          <p:cNvSpPr/>
          <p:nvPr/>
        </p:nvSpPr>
        <p:spPr>
          <a:xfrm>
            <a:off x="5961888" y="2560320"/>
            <a:ext cx="164592" cy="45720"/>
          </a:xfrm>
          <a:prstGeom prst="rect">
            <a:avLst/>
          </a:prstGeom>
          <a:solidFill>
            <a:srgbClr val="2196F3"/>
          </a:solidFill>
          <a:ln w="12700">
            <a:solidFill>
              <a:srgbClr val="2196F3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6126480" y="914400"/>
            <a:ext cx="2651760" cy="3566160"/>
          </a:xfrm>
          <a:prstGeom prst="rect">
            <a:avLst/>
          </a:prstGeom>
          <a:solidFill>
            <a:srgbClr val="1A3A6B">
              <a:alpha val="70000"/>
            </a:srgbClr>
          </a:solidFill>
          <a:ln w="12700">
            <a:solidFill>
              <a:srgbClr val="2196F3"/>
            </a:solidFill>
            <a:prstDash val="solid"/>
          </a:ln>
        </p:spPr>
      </p:sp>
      <p:sp>
        <p:nvSpPr>
          <p:cNvPr id="16" name="Text 12"/>
          <p:cNvSpPr/>
          <p:nvPr/>
        </p:nvSpPr>
        <p:spPr>
          <a:xfrm>
            <a:off x="6126480" y="914400"/>
            <a:ext cx="26517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2196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4000" dirty="0"/>
          </a:p>
        </p:txBody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32320" y="1645920"/>
            <a:ext cx="640080" cy="64008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6217920" y="2377440"/>
            <a:ext cx="24688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Aprendizado e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Reflexão</a:t>
            </a:r>
            <a:endParaRPr lang="en-US" sz="1400" dirty="0"/>
          </a:p>
        </p:txBody>
      </p:sp>
      <p:sp>
        <p:nvSpPr>
          <p:cNvPr id="19" name="Text 14"/>
          <p:cNvSpPr/>
          <p:nvPr/>
        </p:nvSpPr>
        <p:spPr>
          <a:xfrm>
            <a:off x="6263640" y="3090672"/>
            <a:ext cx="2377440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9DC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Armazena interações, recebe feedback e aprimora respostas futuras de forma autônoma.</a:t>
            </a:r>
            <a:endParaRPr lang="en-US" sz="1100" dirty="0"/>
          </a:p>
        </p:txBody>
      </p:sp>
      <p:sp>
        <p:nvSpPr>
          <p:cNvPr id="20" name="Shape 15"/>
          <p:cNvSpPr/>
          <p:nvPr/>
        </p:nvSpPr>
        <p:spPr>
          <a:xfrm>
            <a:off x="457200" y="4617720"/>
            <a:ext cx="8229600" cy="320040"/>
          </a:xfrm>
          <a:prstGeom prst="rect">
            <a:avLst/>
          </a:prstGeom>
          <a:solidFill>
            <a:srgbClr val="2196F3">
              <a:alpha val="20000"/>
            </a:srgbClr>
          </a:solidFill>
          <a:ln w="12700">
            <a:solidFill>
              <a:srgbClr val="2196F3">
                <a:alpha val="20000"/>
              </a:srgbClr>
            </a:solidFill>
            <a:prstDash val="solid"/>
          </a:ln>
        </p:spPr>
      </p:sp>
      <p:sp>
        <p:nvSpPr>
          <p:cNvPr id="21" name="Text 16"/>
          <p:cNvSpPr/>
          <p:nvPr/>
        </p:nvSpPr>
        <p:spPr>
          <a:xfrm>
            <a:off x="457200" y="461772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9DCF7"/>
                </a:solidFill>
              </a:rPr>
              <a:t>Paradigmas: ReAct (pensar-agir-observar) e ReWOO (planejar antes de executar)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Caso 1 — Klarna: IA no Atendimento ao Cliente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65760" y="1143000"/>
            <a:ext cx="4023360" cy="3474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FF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1143000"/>
            <a:ext cx="4023360" cy="384048"/>
          </a:xfrm>
          <a:prstGeom prst="rect">
            <a:avLst/>
          </a:prstGeom>
          <a:solidFill>
            <a:srgbClr val="1A3A6B"/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1143000"/>
            <a:ext cx="4023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DESCRIÇÃO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02920" y="1600200"/>
            <a:ext cx="3749040" cy="2926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Empresa: </a:t>
            </a:r>
            <a:pPr indent="0" marL="0">
              <a:buNone/>
            </a:pPr>
            <a:r>
              <a:rPr lang="en-US" sz="1200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Klarna (fintech global, 150M usuários)
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Parceiro: </a:t>
            </a:r>
            <a:pPr indent="0" marL="0">
              <a:buNone/>
            </a:pPr>
            <a:r>
              <a:rPr lang="en-US" sz="1200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OpenAI
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assistente compreende solicitações em linguagem natural, consulta sistemas internos e resolve problemas de forma autônoma — disponível em 23 mercados, 24h/7d, em mais de 35 idiomas.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663440" y="1143000"/>
            <a:ext cx="2011680" cy="1645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FF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663440" y="1143000"/>
            <a:ext cx="2011680" cy="164592"/>
          </a:xfrm>
          <a:prstGeom prst="rect">
            <a:avLst/>
          </a:prstGeom>
          <a:solidFill>
            <a:srgbClr val="2196F3"/>
          </a:solidFill>
          <a:ln w="12700">
            <a:solidFill>
              <a:srgbClr val="2196F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663440" y="1344168"/>
            <a:ext cx="20116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2196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2,3M</a:t>
            </a:r>
            <a:endParaRPr lang="en-US" sz="3000" dirty="0"/>
          </a:p>
        </p:txBody>
      </p:sp>
      <p:sp>
        <p:nvSpPr>
          <p:cNvPr id="11" name="Text 9"/>
          <p:cNvSpPr/>
          <p:nvPr/>
        </p:nvSpPr>
        <p:spPr>
          <a:xfrm>
            <a:off x="4754880" y="2039112"/>
            <a:ext cx="1828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conversas no 1º mês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6812280" y="1143000"/>
            <a:ext cx="2011680" cy="1645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FF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812280" y="1143000"/>
            <a:ext cx="2011680" cy="164592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812280" y="1344168"/>
            <a:ext cx="20116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700</a:t>
            </a:r>
            <a:endParaRPr lang="en-US" sz="3000" dirty="0"/>
          </a:p>
        </p:txBody>
      </p:sp>
      <p:sp>
        <p:nvSpPr>
          <p:cNvPr id="15" name="Text 13"/>
          <p:cNvSpPr/>
          <p:nvPr/>
        </p:nvSpPr>
        <p:spPr>
          <a:xfrm>
            <a:off x="6903720" y="2039112"/>
            <a:ext cx="1828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agentes humanos equivalentes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663440" y="2926080"/>
            <a:ext cx="2011680" cy="1645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FF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663440" y="2926080"/>
            <a:ext cx="2011680" cy="16459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663440" y="3127248"/>
            <a:ext cx="20116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–82%</a:t>
            </a:r>
            <a:endParaRPr lang="en-US" sz="3000" dirty="0"/>
          </a:p>
        </p:txBody>
      </p:sp>
      <p:sp>
        <p:nvSpPr>
          <p:cNvPr id="19" name="Text 17"/>
          <p:cNvSpPr/>
          <p:nvPr/>
        </p:nvSpPr>
        <p:spPr>
          <a:xfrm>
            <a:off x="4754880" y="3822192"/>
            <a:ext cx="1828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tempo de resolução (11min → 2min)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6812280" y="2926080"/>
            <a:ext cx="2011680" cy="1645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FF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812280" y="2926080"/>
            <a:ext cx="2011680" cy="164592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812280" y="3127248"/>
            <a:ext cx="20116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US$ 40M</a:t>
            </a:r>
            <a:endParaRPr lang="en-US" sz="3000" dirty="0"/>
          </a:p>
        </p:txBody>
      </p:sp>
      <p:sp>
        <p:nvSpPr>
          <p:cNvPr id="23" name="Text 21"/>
          <p:cNvSpPr/>
          <p:nvPr/>
        </p:nvSpPr>
        <p:spPr>
          <a:xfrm>
            <a:off x="6903720" y="3822192"/>
            <a:ext cx="1828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melhoria de lucro estimada (2024)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65760" y="4828032"/>
            <a:ext cx="8412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64748B"/>
                </a:solidFill>
              </a:rPr>
              <a:t>Fonte: OpenAI — openai.com/index/klarna/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A3A6B"/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Caso 2 — Receita Federal do Brasil: Triagem de Bagagens com IA</a:t>
            </a:r>
            <a:endParaRPr lang="en-US" sz="1900" dirty="0"/>
          </a:p>
        </p:txBody>
      </p:sp>
      <p:sp>
        <p:nvSpPr>
          <p:cNvPr id="4" name="Shape 2"/>
          <p:cNvSpPr/>
          <p:nvPr/>
        </p:nvSpPr>
        <p:spPr>
          <a:xfrm>
            <a:off x="365760" y="1143000"/>
            <a:ext cx="8412480" cy="914400"/>
          </a:xfrm>
          <a:prstGeom prst="rect">
            <a:avLst/>
          </a:prstGeom>
          <a:solidFill>
            <a:srgbClr val="E8EFF9"/>
          </a:solidFill>
          <a:ln w="12700">
            <a:solidFill>
              <a:srgbClr val="C9DCF7"/>
            </a:solidFill>
            <a:prstDash val="solid"/>
          </a:ln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1234440"/>
            <a:ext cx="594360" cy="59436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234440" y="1161288"/>
            <a:ext cx="74066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Parceria entre a Receita Federal e o Google Cloud (modelo Gemini): sistema de triagem automática de bagagens no Aeroporto Internacional de Guarulhos. Analisa imagens em tempo real e classifica por nível de risco, reduzindo inspeções manuais desnecessárias.</a:t>
            </a:r>
            <a:endParaRPr lang="en-US" sz="1200" dirty="0"/>
          </a:p>
        </p:txBody>
      </p:sp>
      <p:sp>
        <p:nvSpPr>
          <p:cNvPr id="7" name="Shape 4"/>
          <p:cNvSpPr/>
          <p:nvPr/>
        </p:nvSpPr>
        <p:spPr>
          <a:xfrm>
            <a:off x="365760" y="2212848"/>
            <a:ext cx="2011680" cy="2514600"/>
          </a:xfrm>
          <a:prstGeom prst="rect">
            <a:avLst/>
          </a:prstGeom>
          <a:solidFill>
            <a:srgbClr val="F4F7FC"/>
          </a:solidFill>
          <a:ln w="12700">
            <a:solidFill>
              <a:srgbClr val="E8EFF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3272" y="2359152"/>
            <a:ext cx="658368" cy="658368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457200" y="3090672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Tempo de Triagem</a:t>
            </a:r>
            <a:endParaRPr lang="en-US" sz="1200" dirty="0"/>
          </a:p>
        </p:txBody>
      </p:sp>
      <p:sp>
        <p:nvSpPr>
          <p:cNvPr id="10" name="Text 6"/>
          <p:cNvSpPr/>
          <p:nvPr/>
        </p:nvSpPr>
        <p:spPr>
          <a:xfrm>
            <a:off x="457200" y="3520440"/>
            <a:ext cx="1828800" cy="10789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Redução significativa do tempo médio de análise por bagagem</a:t>
            </a:r>
            <a:endParaRPr lang="en-US" sz="1000" dirty="0"/>
          </a:p>
        </p:txBody>
      </p:sp>
      <p:sp>
        <p:nvSpPr>
          <p:cNvPr id="11" name="Shape 7"/>
          <p:cNvSpPr/>
          <p:nvPr/>
        </p:nvSpPr>
        <p:spPr>
          <a:xfrm>
            <a:off x="2514600" y="2212848"/>
            <a:ext cx="2011680" cy="2514600"/>
          </a:xfrm>
          <a:prstGeom prst="rect">
            <a:avLst/>
          </a:prstGeom>
          <a:solidFill>
            <a:srgbClr val="F4F7FC"/>
          </a:solidFill>
          <a:ln w="12700">
            <a:solidFill>
              <a:srgbClr val="E8EFF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82112" y="2359152"/>
            <a:ext cx="658368" cy="658368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2606040" y="3090672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Foco Humano</a:t>
            </a:r>
            <a:endParaRPr lang="en-US" sz="1200" dirty="0"/>
          </a:p>
        </p:txBody>
      </p:sp>
      <p:sp>
        <p:nvSpPr>
          <p:cNvPr id="14" name="Text 9"/>
          <p:cNvSpPr/>
          <p:nvPr/>
        </p:nvSpPr>
        <p:spPr>
          <a:xfrm>
            <a:off x="2606040" y="3520440"/>
            <a:ext cx="1828800" cy="10789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Agentes alfandegários concentram esforços apenas em casos de alto risco</a:t>
            </a:r>
            <a:endParaRPr lang="en-US" sz="1000" dirty="0"/>
          </a:p>
        </p:txBody>
      </p:sp>
      <p:sp>
        <p:nvSpPr>
          <p:cNvPr id="15" name="Shape 10"/>
          <p:cNvSpPr/>
          <p:nvPr/>
        </p:nvSpPr>
        <p:spPr>
          <a:xfrm>
            <a:off x="4663440" y="2212848"/>
            <a:ext cx="2011680" cy="2514600"/>
          </a:xfrm>
          <a:prstGeom prst="rect">
            <a:avLst/>
          </a:prstGeom>
          <a:solidFill>
            <a:srgbClr val="F4F7FC"/>
          </a:solidFill>
          <a:ln w="12700">
            <a:solidFill>
              <a:srgbClr val="E8EFF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30952" y="2359152"/>
            <a:ext cx="658368" cy="658368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4754880" y="3090672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Consistência</a:t>
            </a:r>
            <a:endParaRPr lang="en-US" sz="1200" dirty="0"/>
          </a:p>
        </p:txBody>
      </p:sp>
      <p:sp>
        <p:nvSpPr>
          <p:cNvPr id="18" name="Text 12"/>
          <p:cNvSpPr/>
          <p:nvPr/>
        </p:nvSpPr>
        <p:spPr>
          <a:xfrm>
            <a:off x="4754880" y="3520440"/>
            <a:ext cx="1828800" cy="10789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Elimina variações causadas por cansaço ou subjetividade humana</a:t>
            </a:r>
            <a:endParaRPr lang="en-US" sz="1000" dirty="0"/>
          </a:p>
        </p:txBody>
      </p:sp>
      <p:sp>
        <p:nvSpPr>
          <p:cNvPr id="19" name="Shape 13"/>
          <p:cNvSpPr/>
          <p:nvPr/>
        </p:nvSpPr>
        <p:spPr>
          <a:xfrm>
            <a:off x="6812280" y="2212848"/>
            <a:ext cx="2011680" cy="2514600"/>
          </a:xfrm>
          <a:prstGeom prst="rect">
            <a:avLst/>
          </a:prstGeom>
          <a:solidFill>
            <a:srgbClr val="F4F7FC"/>
          </a:solidFill>
          <a:ln w="12700">
            <a:solidFill>
              <a:srgbClr val="E8EFF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pic>
        <p:nvPicPr>
          <p:cNvPr id="20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79792" y="2359152"/>
            <a:ext cx="658368" cy="658368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6903720" y="3090672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Escalabilidade</a:t>
            </a:r>
            <a:endParaRPr lang="en-US" sz="1200" dirty="0"/>
          </a:p>
        </p:txBody>
      </p:sp>
      <p:sp>
        <p:nvSpPr>
          <p:cNvPr id="22" name="Text 15"/>
          <p:cNvSpPr/>
          <p:nvPr/>
        </p:nvSpPr>
        <p:spPr>
          <a:xfrm>
            <a:off x="6903720" y="3520440"/>
            <a:ext cx="1828800" cy="10789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Potencial de expansão para outros aeroportos e portos brasileiros</a:t>
            </a:r>
            <a:endParaRPr lang="en-US" sz="1000" dirty="0"/>
          </a:p>
        </p:txBody>
      </p:sp>
      <p:sp>
        <p:nvSpPr>
          <p:cNvPr id="23" name="Text 16"/>
          <p:cNvSpPr/>
          <p:nvPr/>
        </p:nvSpPr>
        <p:spPr>
          <a:xfrm>
            <a:off x="365760" y="4828032"/>
            <a:ext cx="8412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64748B"/>
                </a:solidFill>
              </a:rPr>
              <a:t>Fonte: Google Blog Brasil — blog.google/intl/pt-br/novidades/parceria-com-governos-da-america-latina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Caso 3 — Oracle: Agentes de IA em Aplicações Empresariais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365760" y="1097280"/>
            <a:ext cx="8412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1A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Oracle AI Agent Studio for Fusion Applications — +50 agentes em RH, Finanças, Manufatura e Suporte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65760" y="1600200"/>
            <a:ext cx="3474720" cy="384048"/>
          </a:xfrm>
          <a:prstGeom prst="rect">
            <a:avLst/>
          </a:prstGeom>
          <a:solidFill>
            <a:srgbClr val="2196F3"/>
          </a:solidFill>
          <a:ln w="12700">
            <a:solidFill>
              <a:srgbClr val="2196F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931920" y="1600200"/>
            <a:ext cx="4846320" cy="384048"/>
          </a:xfrm>
          <a:prstGeom prst="rect">
            <a:avLst/>
          </a:prstGeom>
          <a:solidFill>
            <a:srgbClr val="2196F3"/>
          </a:solidFill>
          <a:ln w="12700">
            <a:solidFill>
              <a:srgbClr val="2196F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1600200"/>
            <a:ext cx="3474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ÁREA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3931920" y="1600200"/>
            <a:ext cx="4846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CASOS DE USO DOS AGENTES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65760" y="1984248"/>
            <a:ext cx="347472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0E8F5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931920" y="1984248"/>
            <a:ext cx="484632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0E8F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1984248"/>
            <a:ext cx="32918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3E"/>
                </a:solidFill>
              </a:rPr>
              <a:t>Recursos Humanos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023360" y="1984248"/>
            <a:ext cx="46634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Anúncios de vaga, agendamento de entrevistas, integração de colaboradores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65760" y="2670048"/>
            <a:ext cx="3474720" cy="658368"/>
          </a:xfrm>
          <a:prstGeom prst="rect">
            <a:avLst/>
          </a:prstGeom>
          <a:solidFill>
            <a:srgbClr val="E8EFF9"/>
          </a:solidFill>
          <a:ln w="12700">
            <a:solidFill>
              <a:srgbClr val="E0E8F5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931920" y="2670048"/>
            <a:ext cx="4846320" cy="658368"/>
          </a:xfrm>
          <a:prstGeom prst="rect">
            <a:avLst/>
          </a:prstGeom>
          <a:solidFill>
            <a:srgbClr val="E8EFF9"/>
          </a:solidFill>
          <a:ln w="12700">
            <a:solidFill>
              <a:srgbClr val="E0E8F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7200" y="2670048"/>
            <a:ext cx="32918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3E"/>
                </a:solidFill>
              </a:rPr>
              <a:t>Finanças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023360" y="2670048"/>
            <a:ext cx="46634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KYC automatizado, detecção de fraude, subscrição de crédito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365760" y="3355848"/>
            <a:ext cx="347472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0E8F5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931920" y="3355848"/>
            <a:ext cx="484632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0E8F5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57200" y="3355848"/>
            <a:ext cx="32918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3E"/>
                </a:solidFill>
              </a:rPr>
              <a:t>Manufatura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023360" y="3355848"/>
            <a:ext cx="46634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Estimativas de manutenção, otimização de rotas, avaliação de risco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65760" y="4041648"/>
            <a:ext cx="3474720" cy="658368"/>
          </a:xfrm>
          <a:prstGeom prst="rect">
            <a:avLst/>
          </a:prstGeom>
          <a:solidFill>
            <a:srgbClr val="E8EFF9"/>
          </a:solidFill>
          <a:ln w="12700">
            <a:solidFill>
              <a:srgbClr val="E0E8F5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931920" y="4041648"/>
            <a:ext cx="4846320" cy="658368"/>
          </a:xfrm>
          <a:prstGeom prst="rect">
            <a:avLst/>
          </a:prstGeom>
          <a:solidFill>
            <a:srgbClr val="E8EFF9"/>
          </a:solidFill>
          <a:ln w="12700">
            <a:solidFill>
              <a:srgbClr val="E0E8F5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57200" y="4041648"/>
            <a:ext cx="32918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3E"/>
                </a:solidFill>
              </a:rPr>
              <a:t>Suporte ao Cliente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4023360" y="4041648"/>
            <a:ext cx="46634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Triagem de tickets, rastreamento de pedidos, recomendações de solução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365760" y="4572000"/>
            <a:ext cx="8412480" cy="320040"/>
          </a:xfrm>
          <a:prstGeom prst="rect">
            <a:avLst/>
          </a:prstGeom>
          <a:solidFill>
            <a:srgbClr val="10B981">
              <a:alpha val="80000"/>
            </a:srgbClr>
          </a:solidFill>
          <a:ln w="12700">
            <a:solidFill>
              <a:srgbClr val="10B981">
                <a:alpha val="80000"/>
              </a:srgbClr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B3E"/>
                </a:solidFill>
              </a:rPr>
              <a:t>✔  Incluídos nas assinaturas Oracle Fusion Cloud Applications — sem custo adicional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412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Análise Geral dos Impactos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365760" y="868680"/>
            <a:ext cx="4114800" cy="384048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868680"/>
            <a:ext cx="4114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✔  PONTOS POSITIVOS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65760" y="1298448"/>
            <a:ext cx="4114800" cy="621792"/>
          </a:xfrm>
          <a:prstGeom prst="rect">
            <a:avLst/>
          </a:prstGeom>
          <a:solidFill>
            <a:srgbClr val="F0FDF4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298448"/>
            <a:ext cx="393192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66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 Automação de processos complexos e repetitivos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65760" y="1984248"/>
            <a:ext cx="411480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1984248"/>
            <a:ext cx="393192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66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 Aumento massivo de produtividade (ex: 700 agentes em 1)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65760" y="2670048"/>
            <a:ext cx="4114800" cy="621792"/>
          </a:xfrm>
          <a:prstGeom prst="rect">
            <a:avLst/>
          </a:prstGeom>
          <a:solidFill>
            <a:srgbClr val="F0FDF4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2670048"/>
            <a:ext cx="393192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66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 Disponibilidade 24/7 em múltiplos idiomas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65760" y="3355848"/>
            <a:ext cx="411480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" y="3355848"/>
            <a:ext cx="393192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66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 Apoio à tomada de decisão baseada em dados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65760" y="4041648"/>
            <a:ext cx="4114800" cy="621792"/>
          </a:xfrm>
          <a:prstGeom prst="rect">
            <a:avLst/>
          </a:prstGeom>
          <a:solidFill>
            <a:srgbClr val="F0FDF4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7200" y="4041648"/>
            <a:ext cx="393192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66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 Escalabilidade sem custo proporcional adicional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663440" y="868680"/>
            <a:ext cx="4114800" cy="384048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663440" y="868680"/>
            <a:ext cx="4114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✖  DESAFIOS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4663440" y="1298448"/>
            <a:ext cx="4114800" cy="621792"/>
          </a:xfrm>
          <a:prstGeom prst="rect">
            <a:avLst/>
          </a:prstGeom>
          <a:solidFill>
            <a:srgbClr val="FFF5F5"/>
          </a:solidFill>
          <a:ln w="12700">
            <a:solidFill>
              <a:srgbClr val="FECAC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754880" y="1298448"/>
            <a:ext cx="393192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9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✖  Dependência tecnológica e risco de falhas sistêmicas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663440" y="1984248"/>
            <a:ext cx="411480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FECAC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754880" y="1984248"/>
            <a:ext cx="393192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9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✖  Questões éticas: viés algorítmico e transparência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663440" y="2670048"/>
            <a:ext cx="4114800" cy="621792"/>
          </a:xfrm>
          <a:prstGeom prst="rect">
            <a:avLst/>
          </a:prstGeom>
          <a:solidFill>
            <a:srgbClr val="FFF5F5"/>
          </a:solidFill>
          <a:ln w="12700">
            <a:solidFill>
              <a:srgbClr val="FECAC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754880" y="2670048"/>
            <a:ext cx="393192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9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✖  Privacidade e segurança de dados sensíveis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663440" y="3355848"/>
            <a:ext cx="411480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FECAC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754880" y="3355848"/>
            <a:ext cx="393192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9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✖  Substituição de atividades humanas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663440" y="4041648"/>
            <a:ext cx="4114800" cy="621792"/>
          </a:xfrm>
          <a:prstGeom prst="rect">
            <a:avLst/>
          </a:prstGeom>
          <a:solidFill>
            <a:srgbClr val="FFF5F5"/>
          </a:solidFill>
          <a:ln w="12700">
            <a:solidFill>
              <a:srgbClr val="FECAC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754880" y="4041648"/>
            <a:ext cx="393192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9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✖  Ciclos infinitos de feedback e custo computacional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1B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Protótipo Desenvolvido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749808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C9DC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Agente de IA para Atendimento ao Cliente — n8n + Gemini + Telegram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11480" y="1261872"/>
            <a:ext cx="2743200" cy="1508760"/>
          </a:xfrm>
          <a:prstGeom prst="rect">
            <a:avLst/>
          </a:prstGeom>
          <a:solidFill>
            <a:srgbClr val="1A3A6B">
              <a:alpha val="60000"/>
            </a:srgbClr>
          </a:solidFill>
          <a:ln w="12700">
            <a:solidFill>
              <a:srgbClr val="2196F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02920" y="1353312"/>
            <a:ext cx="457200" cy="457200"/>
          </a:xfrm>
          <a:prstGeom prst="ellipse">
            <a:avLst/>
          </a:prstGeom>
          <a:solidFill>
            <a:srgbClr val="2196F3"/>
          </a:solidFill>
          <a:ln w="12700">
            <a:solidFill>
              <a:srgbClr val="2196F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135331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51560" y="1371600"/>
            <a:ext cx="2011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Entrada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21208" y="1883664"/>
            <a:ext cx="2542032" cy="8046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C9DC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Cliente envia mensagem via Telegram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172968" y="1975104"/>
            <a:ext cx="164592" cy="64008"/>
          </a:xfrm>
          <a:prstGeom prst="rect">
            <a:avLst/>
          </a:prstGeom>
          <a:solidFill>
            <a:srgbClr val="2196F3"/>
          </a:solidFill>
          <a:ln w="12700">
            <a:solidFill>
              <a:srgbClr val="2196F3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337560" y="1261872"/>
            <a:ext cx="2743200" cy="1508760"/>
          </a:xfrm>
          <a:prstGeom prst="rect">
            <a:avLst/>
          </a:prstGeom>
          <a:solidFill>
            <a:srgbClr val="1A3A6B">
              <a:alpha val="60000"/>
            </a:srgbClr>
          </a:solidFill>
          <a:ln w="12700">
            <a:solidFill>
              <a:srgbClr val="2196F3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429000" y="1353312"/>
            <a:ext cx="457200" cy="457200"/>
          </a:xfrm>
          <a:prstGeom prst="ellipse">
            <a:avLst/>
          </a:prstGeom>
          <a:solidFill>
            <a:srgbClr val="2196F3"/>
          </a:solidFill>
          <a:ln w="12700">
            <a:solidFill>
              <a:srgbClr val="2196F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429000" y="135331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2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3977640" y="1371600"/>
            <a:ext cx="2011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Polling (n8n)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3447288" y="1883664"/>
            <a:ext cx="2542032" cy="8046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C9DC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Schedule Trigger busca mensagens via getUpdates do Telegram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099048" y="1975104"/>
            <a:ext cx="164592" cy="64008"/>
          </a:xfrm>
          <a:prstGeom prst="rect">
            <a:avLst/>
          </a:prstGeom>
          <a:solidFill>
            <a:srgbClr val="2196F3"/>
          </a:solidFill>
          <a:ln w="12700">
            <a:solidFill>
              <a:srgbClr val="2196F3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263640" y="1261872"/>
            <a:ext cx="2743200" cy="1508760"/>
          </a:xfrm>
          <a:prstGeom prst="rect">
            <a:avLst/>
          </a:prstGeom>
          <a:solidFill>
            <a:srgbClr val="1A3A6B">
              <a:alpha val="60000"/>
            </a:srgbClr>
          </a:solidFill>
          <a:ln w="12700">
            <a:solidFill>
              <a:srgbClr val="2196F3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355080" y="1353312"/>
            <a:ext cx="457200" cy="457200"/>
          </a:xfrm>
          <a:prstGeom prst="ellipse">
            <a:avLst/>
          </a:prstGeom>
          <a:solidFill>
            <a:srgbClr val="2196F3"/>
          </a:solidFill>
          <a:ln w="12700">
            <a:solidFill>
              <a:srgbClr val="2196F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355080" y="135331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3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6903720" y="1371600"/>
            <a:ext cx="2011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Agente de IA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6373368" y="1883664"/>
            <a:ext cx="2542032" cy="8046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C9DC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 analisa intenção e gera resposta contextualizada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11480" y="3090672"/>
            <a:ext cx="2743200" cy="1508760"/>
          </a:xfrm>
          <a:prstGeom prst="rect">
            <a:avLst/>
          </a:prstGeom>
          <a:solidFill>
            <a:srgbClr val="1A3A6B">
              <a:alpha val="60000"/>
            </a:srgbClr>
          </a:solidFill>
          <a:ln w="12700">
            <a:solidFill>
              <a:srgbClr val="2196F3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02920" y="3182112"/>
            <a:ext cx="457200" cy="457200"/>
          </a:xfrm>
          <a:prstGeom prst="ellipse">
            <a:avLst/>
          </a:prstGeom>
          <a:solidFill>
            <a:srgbClr val="2196F3"/>
          </a:solidFill>
          <a:ln w="12700">
            <a:solidFill>
              <a:srgbClr val="2196F3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02920" y="318211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4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1051560" y="3200400"/>
            <a:ext cx="2011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Memória da Conversa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521208" y="3712464"/>
            <a:ext cx="2542032" cy="8046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C9DC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Mantém contexto por sessão via Buffer Window por chat_id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172968" y="3803904"/>
            <a:ext cx="164592" cy="64008"/>
          </a:xfrm>
          <a:prstGeom prst="rect">
            <a:avLst/>
          </a:prstGeom>
          <a:solidFill>
            <a:srgbClr val="2196F3"/>
          </a:solidFill>
          <a:ln w="12700">
            <a:solidFill>
              <a:srgbClr val="2196F3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3337560" y="3090672"/>
            <a:ext cx="2743200" cy="1508760"/>
          </a:xfrm>
          <a:prstGeom prst="rect">
            <a:avLst/>
          </a:prstGeom>
          <a:solidFill>
            <a:srgbClr val="1A3A6B">
              <a:alpha val="60000"/>
            </a:srgbClr>
          </a:solidFill>
          <a:ln w="12700">
            <a:solidFill>
              <a:srgbClr val="2196F3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3429000" y="3182112"/>
            <a:ext cx="457200" cy="457200"/>
          </a:xfrm>
          <a:prstGeom prst="ellipse">
            <a:avLst/>
          </a:prstGeom>
          <a:solidFill>
            <a:srgbClr val="2196F3"/>
          </a:solidFill>
          <a:ln w="12700">
            <a:solidFill>
              <a:srgbClr val="2196F3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429000" y="318211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5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3977640" y="3200400"/>
            <a:ext cx="2011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de Pedidos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3447288" y="3712464"/>
            <a:ext cx="2542032" cy="8046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C9DC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Dados de pedidos embutidos no fluxo (status, entrega, devolução)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6099048" y="3803904"/>
            <a:ext cx="164592" cy="64008"/>
          </a:xfrm>
          <a:prstGeom prst="rect">
            <a:avLst/>
          </a:prstGeom>
          <a:solidFill>
            <a:srgbClr val="2196F3"/>
          </a:solidFill>
          <a:ln w="12700">
            <a:solidFill>
              <a:srgbClr val="2196F3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6263640" y="3090672"/>
            <a:ext cx="2743200" cy="1508760"/>
          </a:xfrm>
          <a:prstGeom prst="rect">
            <a:avLst/>
          </a:prstGeom>
          <a:solidFill>
            <a:srgbClr val="1A3A6B">
              <a:alpha val="60000"/>
            </a:srgbClr>
          </a:solidFill>
          <a:ln w="12700">
            <a:solidFill>
              <a:srgbClr val="2196F3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6355080" y="3182112"/>
            <a:ext cx="457200" cy="457200"/>
          </a:xfrm>
          <a:prstGeom prst="ellipse">
            <a:avLst/>
          </a:prstGeom>
          <a:solidFill>
            <a:srgbClr val="2196F3"/>
          </a:solidFill>
          <a:ln w="12700">
            <a:solidFill>
              <a:srgbClr val="2196F3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355080" y="318211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6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6903720" y="3200400"/>
            <a:ext cx="2011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Resposta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6373368" y="3712464"/>
            <a:ext cx="2542032" cy="8046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C9DC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Responde ao cliente ou escala para atendimento humano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411480" y="4773168"/>
            <a:ext cx="8321040" cy="274320"/>
          </a:xfrm>
          <a:prstGeom prst="rect">
            <a:avLst/>
          </a:prstGeom>
          <a:solidFill>
            <a:srgbClr val="1A3A6B"/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11480" y="4773168"/>
            <a:ext cx="8321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9DCF7"/>
                </a:solidFill>
              </a:rPr>
              <a:t>Tecnologias: n8n  ·  Google Gemini  ·  Telegram Bot API  ·  JavaScript  ·  APIs REST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D1B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2286000"/>
            <a:ext cx="4572000" cy="4572000"/>
          </a:xfrm>
          <a:prstGeom prst="ellipse">
            <a:avLst/>
          </a:prstGeom>
          <a:solidFill>
            <a:srgbClr val="1A3A6B">
              <a:alpha val="40000"/>
            </a:srgbClr>
          </a:solidFill>
          <a:ln w="12700">
            <a:solidFill>
              <a:srgbClr val="1A3A6B">
                <a:alpha val="4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858000" y="-914400"/>
            <a:ext cx="3657600" cy="3657600"/>
          </a:xfrm>
          <a:prstGeom prst="ellipse">
            <a:avLst/>
          </a:prstGeom>
          <a:solidFill>
            <a:srgbClr val="2196F3">
              <a:alpha val="20000"/>
            </a:srgbClr>
          </a:solidFill>
          <a:ln w="12700">
            <a:solidFill>
              <a:srgbClr val="2196F3">
                <a:alpha val="20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22860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Conclusão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457200" y="1005840"/>
            <a:ext cx="8229600" cy="1143000"/>
          </a:xfrm>
          <a:prstGeom prst="rect">
            <a:avLst/>
          </a:prstGeom>
          <a:solidFill>
            <a:srgbClr val="1A3A6B">
              <a:alpha val="55000"/>
            </a:srgbClr>
          </a:solidFill>
          <a:ln w="12700">
            <a:solidFill>
              <a:srgbClr val="2196F3"/>
            </a:solidFill>
            <a:prstDash val="solid"/>
          </a:ln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1280160"/>
            <a:ext cx="566928" cy="56692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280160" y="1097280"/>
            <a:ext cx="72237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Transformação Real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1280160" y="1508760"/>
            <a:ext cx="72237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DC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Agentes de IA já impactam setores como finanças, saúde, governo e varejo com resultados concretos e mensuráveis.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457200" y="2286000"/>
            <a:ext cx="8229600" cy="1143000"/>
          </a:xfrm>
          <a:prstGeom prst="rect">
            <a:avLst/>
          </a:prstGeom>
          <a:solidFill>
            <a:srgbClr val="1A3A6B">
              <a:alpha val="55000"/>
            </a:srgbClr>
          </a:solidFill>
          <a:ln w="12700">
            <a:solidFill>
              <a:srgbClr val="2196F3"/>
            </a:solidFill>
            <a:prstDash val="solid"/>
          </a:ln>
        </p:spPr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" y="2560320"/>
            <a:ext cx="566928" cy="566928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280160" y="2377440"/>
            <a:ext cx="72237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Produtividade em Escala</a:t>
            </a:r>
            <a:endParaRPr lang="en-US" sz="1500" dirty="0"/>
          </a:p>
        </p:txBody>
      </p:sp>
      <p:sp>
        <p:nvSpPr>
          <p:cNvPr id="12" name="Text 8"/>
          <p:cNvSpPr/>
          <p:nvPr/>
        </p:nvSpPr>
        <p:spPr>
          <a:xfrm>
            <a:off x="1280160" y="2788920"/>
            <a:ext cx="72237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DC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 agente pode substituir centenas de profissionais em tarefas repetitivas, com disponibilidade 24/7 e qualidade consistente.</a:t>
            </a:r>
            <a:endParaRPr lang="en-US" sz="1200" dirty="0"/>
          </a:p>
        </p:txBody>
      </p:sp>
      <p:sp>
        <p:nvSpPr>
          <p:cNvPr id="13" name="Shape 9"/>
          <p:cNvSpPr/>
          <p:nvPr/>
        </p:nvSpPr>
        <p:spPr>
          <a:xfrm>
            <a:off x="457200" y="3566160"/>
            <a:ext cx="8229600" cy="1143000"/>
          </a:xfrm>
          <a:prstGeom prst="rect">
            <a:avLst/>
          </a:prstGeom>
          <a:solidFill>
            <a:srgbClr val="1A3A6B">
              <a:alpha val="55000"/>
            </a:srgbClr>
          </a:solidFill>
          <a:ln w="12700">
            <a:solidFill>
              <a:srgbClr val="2196F3"/>
            </a:solidFill>
            <a:prstDash val="solid"/>
          </a:ln>
        </p:spPr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928" y="3840480"/>
            <a:ext cx="566928" cy="566928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1280160" y="3657600"/>
            <a:ext cx="72237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Responsabilidade é Essencial</a:t>
            </a:r>
            <a:endParaRPr lang="en-US" sz="1500" dirty="0"/>
          </a:p>
        </p:txBody>
      </p:sp>
      <p:sp>
        <p:nvSpPr>
          <p:cNvPr id="16" name="Text 11"/>
          <p:cNvSpPr/>
          <p:nvPr/>
        </p:nvSpPr>
        <p:spPr>
          <a:xfrm>
            <a:off x="1280160" y="4069080"/>
            <a:ext cx="72237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DC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adoção exige atenção a ética, privacidade de dados e supervisão humana, especialmente em decisões de alto impacto.</a:t>
            </a:r>
            <a:endParaRPr lang="en-US" sz="1200" dirty="0"/>
          </a:p>
        </p:txBody>
      </p:sp>
      <p:sp>
        <p:nvSpPr>
          <p:cNvPr id="17" name="Shape 12"/>
          <p:cNvSpPr/>
          <p:nvPr/>
        </p:nvSpPr>
        <p:spPr>
          <a:xfrm>
            <a:off x="457200" y="4754880"/>
            <a:ext cx="8229600" cy="45720"/>
          </a:xfrm>
          <a:prstGeom prst="rect">
            <a:avLst/>
          </a:prstGeom>
          <a:solidFill>
            <a:srgbClr val="2196F3"/>
          </a:solidFill>
          <a:ln w="12700">
            <a:solidFill>
              <a:srgbClr val="2196F3"/>
            </a:solidFill>
            <a:prstDash val="solid"/>
          </a:ln>
        </p:spPr>
      </p:sp>
      <p:sp>
        <p:nvSpPr>
          <p:cNvPr id="18" name="Text 13"/>
          <p:cNvSpPr/>
          <p:nvPr/>
        </p:nvSpPr>
        <p:spPr>
          <a:xfrm>
            <a:off x="457200" y="4828032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C9DCF7"/>
                </a:solidFill>
              </a:rPr>
              <a:t>UNIFACS — Exploração Digital e Fundamentos Tecnológicos — 2026.1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4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Referências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65760" y="1051560"/>
            <a:ext cx="109728" cy="530352"/>
          </a:xfrm>
          <a:prstGeom prst="rect">
            <a:avLst/>
          </a:prstGeom>
          <a:solidFill>
            <a:srgbClr val="2196F3"/>
          </a:solidFill>
          <a:ln w="12700">
            <a:solidFill>
              <a:srgbClr val="2196F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94360" y="1051560"/>
            <a:ext cx="82296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GUTOWSKA, Anna. O que são agentes de IA? IBM. Disponível em: ibm.com/br-pt/think/topics/ai-agents. Acesso em: jun. 2025.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365760" y="1719072"/>
            <a:ext cx="109728" cy="530352"/>
          </a:xfrm>
          <a:prstGeom prst="rect">
            <a:avLst/>
          </a:prstGeom>
          <a:solidFill>
            <a:srgbClr val="2196F3"/>
          </a:solidFill>
          <a:ln w="12700">
            <a:solidFill>
              <a:srgbClr val="2196F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94360" y="1719072"/>
            <a:ext cx="82296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RICADELA, Aaron. 23 casos de uso reais de agentes de IA. Oracle. 21 mai. 2025. Disponível em: oracle.com/br/artificial-intelligence/ai-agents/use-cases/.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365760" y="2386584"/>
            <a:ext cx="109728" cy="530352"/>
          </a:xfrm>
          <a:prstGeom prst="rect">
            <a:avLst/>
          </a:prstGeom>
          <a:solidFill>
            <a:srgbClr val="2196F3"/>
          </a:solidFill>
          <a:ln w="12700">
            <a:solidFill>
              <a:srgbClr val="2196F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94360" y="2386584"/>
            <a:ext cx="82296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OPENAI. Klarna's AI assistant does the work of 700 full-time agents. Disponível em: openai.com/index/klarna/. Acesso em: jun. 2025.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365760" y="3054096"/>
            <a:ext cx="109728" cy="530352"/>
          </a:xfrm>
          <a:prstGeom prst="rect">
            <a:avLst/>
          </a:prstGeom>
          <a:solidFill>
            <a:srgbClr val="2196F3"/>
          </a:solidFill>
          <a:ln w="12700">
            <a:solidFill>
              <a:srgbClr val="2196F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94360" y="3054096"/>
            <a:ext cx="82296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GOOGLE. Parceria com governos da América Latina em três novas iniciativas de IA. Google Blog Brasil. abr. 2026.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365760" y="3721608"/>
            <a:ext cx="109728" cy="530352"/>
          </a:xfrm>
          <a:prstGeom prst="rect">
            <a:avLst/>
          </a:prstGeom>
          <a:solidFill>
            <a:srgbClr val="2196F3"/>
          </a:solidFill>
          <a:ln w="12700">
            <a:solidFill>
              <a:srgbClr val="2196F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94360" y="3721608"/>
            <a:ext cx="82296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SILVA, Marcel; JOLO, Fernanda. Google Cloud: 90 casos de IA na América Latina. Google Blog Brasil. 20 mar. 2025.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365760" y="4389120"/>
            <a:ext cx="109728" cy="530352"/>
          </a:xfrm>
          <a:prstGeom prst="rect">
            <a:avLst/>
          </a:prstGeom>
          <a:solidFill>
            <a:srgbClr val="2196F3"/>
          </a:solidFill>
          <a:ln w="12700">
            <a:solidFill>
              <a:srgbClr val="2196F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94360" y="4389120"/>
            <a:ext cx="82296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IDC. CTIOs no Brasil. Pesquisa realizada a pedido do Google Cloud, 2024.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2026-06-08T00:36:05Z</dcterms:created>
  <dcterms:modified xsi:type="dcterms:W3CDTF">2026-06-08T00:36:05Z</dcterms:modified>
</cp:coreProperties>
</file>